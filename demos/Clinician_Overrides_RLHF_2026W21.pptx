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0584A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097280"/>
            <a:ext cx="10360152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临床医生覆盖AI推荐</a:t>
            </a:r>
            <a:endParaRPr lang="en-US" sz="3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作为隐式偏好信号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914400" y="3200400"/>
            <a:ext cx="103601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from Disagreement: Clinician Overrides as</a:t>
            </a:r>
            <a:endParaRPr lang="en-US" sz="1800" dirty="0"/>
          </a:p>
          <a:p>
            <a:pPr algn="l" indent="0" marL="0">
              <a:buNone/>
            </a:pPr>
            <a:r>
              <a:rPr lang="en-US" sz="180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Implicit Preference Signals for Clinical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4389120"/>
            <a:ext cx="103601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Prabhjot Singh, Abhishek Gupta, Chris Betz, Abe Flansburg,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Brett Ives, Sudeep Lama, Jung Hoon Son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14400" y="5394960"/>
            <a:ext cx="2926080" cy="457200"/>
          </a:xfrm>
          <a:prstGeom prst="roundRect">
            <a:avLst>
              <a:gd name="adj" fmla="val 16000"/>
            </a:avLst>
          </a:prstGeom>
          <a:solidFill>
            <a:srgbClr val="E0584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53949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arXiv:2604.28010 | 2026年4月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612648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本周最佳推荐 | 研究周报 2026-W21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临床AI对齐的根本困境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3383280" cy="438912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2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64592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🔴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05840" y="22860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昂贵的标注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926080"/>
            <a:ext cx="28346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RLHF需要大量人工偏好标注，</a:t>
            </a:r>
            <a:endParaRPr lang="en-US" sz="13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医学领域成本极高且难以规模化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480560" y="1463040"/>
            <a:ext cx="3383280" cy="438912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2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480560" y="164592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🟡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754880" y="22860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稀疏的信号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754880" y="2926080"/>
            <a:ext cx="28346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医生偶尔的反馈难以形成</a:t>
            </a:r>
            <a:endParaRPr lang="en-US" sz="13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连续的学习信号流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0" y="1463040"/>
            <a:ext cx="3383280" cy="438912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2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29600" y="164592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⚠️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8503920" y="22860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抑制偏差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503920" y="2926080"/>
            <a:ext cx="28346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AI推荐正确但执行困难时，</a:t>
            </a:r>
            <a:endParaRPr lang="en-US" sz="13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系统会系统性压制好建议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61264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05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临床环境中，医生每天都在"覆盖"AI建议——这些行为天然就是偏好数据，但从未被系统利用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0584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核心洞察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6858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E058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"临床医生的覆盖行为</a:t>
            </a:r>
            <a:endParaRPr lang="en-US" sz="2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E058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就是隐式RLHF偏好信号"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863840" y="1280160"/>
            <a:ext cx="3840480" cy="457200"/>
          </a:xfrm>
          <a:prstGeom prst="rect">
            <a:avLst/>
          </a:prstGeom>
          <a:solidFill>
            <a:srgbClr val="E0584A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0" y="12801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覆盖信号为何优于传统RLHF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863840" y="1920240"/>
            <a:ext cx="1005840" cy="54864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0" y="192024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标注者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281160" y="1920240"/>
            <a:ext cx="1417320" cy="54864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0" name="Text 8"/>
          <p:cNvSpPr/>
          <p:nvPr/>
        </p:nvSpPr>
        <p:spPr>
          <a:xfrm>
            <a:off x="9281160" y="192024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众包工人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698480" y="1920240"/>
            <a:ext cx="1417320" cy="54864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10698480" y="192024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领域专家（医生）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863840" y="2514600"/>
            <a:ext cx="1005840" cy="54864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7863840" y="251460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后果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281160" y="2514600"/>
            <a:ext cx="1417320" cy="54864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9281160" y="251460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无真实后果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0698480" y="2514600"/>
            <a:ext cx="1417320" cy="54864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10698480" y="251460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影响患者结局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863840" y="3108960"/>
            <a:ext cx="1005840" cy="54864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0" name="Text 18"/>
          <p:cNvSpPr/>
          <p:nvPr/>
        </p:nvSpPr>
        <p:spPr>
          <a:xfrm>
            <a:off x="7863840" y="310896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反馈密度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281160" y="3108960"/>
            <a:ext cx="1417320" cy="54864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2" name="Text 20"/>
          <p:cNvSpPr/>
          <p:nvPr/>
        </p:nvSpPr>
        <p:spPr>
          <a:xfrm>
            <a:off x="9281160" y="310896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离散、昂贵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0698480" y="3108960"/>
            <a:ext cx="1417320" cy="54864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4" name="Text 22"/>
          <p:cNvSpPr/>
          <p:nvPr/>
        </p:nvSpPr>
        <p:spPr>
          <a:xfrm>
            <a:off x="10698480" y="310896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纵向、密集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863840" y="3703320"/>
            <a:ext cx="1005840" cy="54864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6" name="Text 24"/>
          <p:cNvSpPr/>
          <p:nvPr/>
        </p:nvSpPr>
        <p:spPr>
          <a:xfrm>
            <a:off x="7863840" y="370332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结局可观测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281160" y="3703320"/>
            <a:ext cx="1417320" cy="54864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8" name="Text 26"/>
          <p:cNvSpPr/>
          <p:nvPr/>
        </p:nvSpPr>
        <p:spPr>
          <a:xfrm>
            <a:off x="9281160" y="370332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不可知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0698480" y="3703320"/>
            <a:ext cx="1417320" cy="54864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0" name="Text 28"/>
          <p:cNvSpPr/>
          <p:nvPr/>
        </p:nvSpPr>
        <p:spPr>
          <a:xfrm>
            <a:off x="10698480" y="370332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可追踪健康结局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863840" y="4297680"/>
            <a:ext cx="1005840" cy="54864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2" name="Text 30"/>
          <p:cNvSpPr/>
          <p:nvPr/>
        </p:nvSpPr>
        <p:spPr>
          <a:xfrm>
            <a:off x="7863840" y="429768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自然变异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281160" y="4297680"/>
            <a:ext cx="1417320" cy="54864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4" name="Text 32"/>
          <p:cNvSpPr/>
          <p:nvPr/>
        </p:nvSpPr>
        <p:spPr>
          <a:xfrm>
            <a:off x="9281160" y="429768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人为构造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0698480" y="4297680"/>
            <a:ext cx="1417320" cy="54864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6" name="Text 34"/>
          <p:cNvSpPr/>
          <p:nvPr/>
        </p:nvSpPr>
        <p:spPr>
          <a:xfrm>
            <a:off x="10698480" y="429768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医生能力天然分布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31520" y="59436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从"花钱买标注" → "从临床工作流中自然采集"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三大核心贡献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3383280" cy="47548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2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965960" y="1554480"/>
            <a:ext cx="914400" cy="914400"/>
          </a:xfrm>
          <a:prstGeom prst="ellipse">
            <a:avLst/>
          </a:prstGeom>
          <a:solidFill>
            <a:srgbClr val="E0584A"/>
          </a:solidFill>
          <a:ln/>
        </p:spPr>
      </p:sp>
      <p:sp>
        <p:nvSpPr>
          <p:cNvPr id="5" name="Text 3"/>
          <p:cNvSpPr/>
          <p:nvPr/>
        </p:nvSpPr>
        <p:spPr>
          <a:xfrm>
            <a:off x="1965960" y="15544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①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05840" y="274320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五类覆盖分类法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3474720"/>
            <a:ext cx="28346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将临床覆盖行为分为5种类型，</a:t>
            </a:r>
            <a:endParaRPr lang="en-US" sz="13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每种映射到不同的模型更新目标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80560" y="1371600"/>
            <a:ext cx="3383280" cy="47548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2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715000" y="1554480"/>
            <a:ext cx="914400" cy="914400"/>
          </a:xfrm>
          <a:prstGeom prst="ellipse">
            <a:avLst/>
          </a:prstGeom>
          <a:solidFill>
            <a:srgbClr val="2C5F8A"/>
          </a:solidFill>
          <a:ln/>
        </p:spPr>
      </p:sp>
      <p:sp>
        <p:nvSpPr>
          <p:cNvPr id="10" name="Text 8"/>
          <p:cNvSpPr/>
          <p:nvPr/>
        </p:nvSpPr>
        <p:spPr>
          <a:xfrm>
            <a:off x="5715000" y="15544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②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754880" y="274320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条件偏好公式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54880" y="3474720"/>
            <a:ext cx="28346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偏好 = f(患者状态, 组织情境, </a:t>
            </a:r>
            <a:endParaRPr lang="en-US" sz="13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临床医生能力)，能力分解为</a:t>
            </a:r>
            <a:endParaRPr lang="en-US" sz="13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执行能力 + 对齐能力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0" y="1371600"/>
            <a:ext cx="3383280" cy="47548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2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464040" y="1554480"/>
            <a:ext cx="914400" cy="91440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5" name="Text 13"/>
          <p:cNvSpPr/>
          <p:nvPr/>
        </p:nvSpPr>
        <p:spPr>
          <a:xfrm>
            <a:off x="9464040" y="15544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③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8503920" y="274320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双学习架构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503920" y="3474720"/>
            <a:ext cx="28346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联合训练奖励模型和能力模型，</a:t>
            </a:r>
            <a:endParaRPr lang="en-US" sz="13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通过交替优化防止</a:t>
            </a:r>
            <a:endParaRPr lang="en-US" sz="13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"抑制偏差" 失败模式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0584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五类临床覆盖分类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057400" cy="5029200"/>
          </a:xfrm>
          <a:prstGeom prst="roundRect">
            <a:avLst>
              <a:gd name="adj" fmla="val 4444"/>
            </a:avLst>
          </a:prstGeom>
          <a:solidFill>
            <a:srgbClr val="000000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371600"/>
            <a:ext cx="1325880" cy="320040"/>
          </a:xfrm>
          <a:prstGeom prst="roundRect">
            <a:avLst>
              <a:gd name="adj" fmla="val 14286"/>
            </a:avLst>
          </a:prstGeom>
          <a:solidFill>
            <a:srgbClr val="2C5F8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37160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Type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📝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信息补充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017520"/>
            <a:ext cx="1874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医生添加了AI遗漏的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关键临床信息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4206240"/>
            <a:ext cx="1508760" cy="182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4389120"/>
            <a:ext cx="1874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E05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完善上下文建模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0" y="1188720"/>
            <a:ext cx="2057400" cy="5029200"/>
          </a:xfrm>
          <a:prstGeom prst="roundRect">
            <a:avLst>
              <a:gd name="adj" fmla="val 4444"/>
            </a:avLst>
          </a:prstGeom>
          <a:solidFill>
            <a:srgbClr val="000000"/>
          </a:solidFill>
          <a:ln/>
        </p:spPr>
      </p:sp>
      <p:sp>
        <p:nvSpPr>
          <p:cNvPr id="13" name="Shape 11"/>
          <p:cNvSpPr/>
          <p:nvPr/>
        </p:nvSpPr>
        <p:spPr>
          <a:xfrm>
            <a:off x="3108960" y="1371600"/>
            <a:ext cx="1325880" cy="320040"/>
          </a:xfrm>
          <a:prstGeom prst="roundRect">
            <a:avLst>
              <a:gd name="adj" fmla="val 14286"/>
            </a:avLst>
          </a:prstGeom>
          <a:solidFill>
            <a:srgbClr val="2C5F8A"/>
          </a:solidFill>
          <a:ln/>
        </p:spPr>
      </p:sp>
      <p:sp>
        <p:nvSpPr>
          <p:cNvPr id="14" name="Text 12"/>
          <p:cNvSpPr/>
          <p:nvPr/>
        </p:nvSpPr>
        <p:spPr>
          <a:xfrm>
            <a:off x="3108960" y="137160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Type 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743200" y="182880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❤️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2834640" y="246888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偏好修正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834640" y="3017520"/>
            <a:ext cx="1874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医生因患者偏好/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价值观调整推荐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017520" y="4206240"/>
            <a:ext cx="1508760" cy="182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9" name="Text 17"/>
          <p:cNvSpPr/>
          <p:nvPr/>
        </p:nvSpPr>
        <p:spPr>
          <a:xfrm>
            <a:off x="2834640" y="4389120"/>
            <a:ext cx="1874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E05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个性化对齐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0" y="1188720"/>
            <a:ext cx="2057400" cy="5029200"/>
          </a:xfrm>
          <a:prstGeom prst="roundRect">
            <a:avLst>
              <a:gd name="adj" fmla="val 4444"/>
            </a:avLst>
          </a:prstGeom>
          <a:solidFill>
            <a:srgbClr val="000000"/>
          </a:solidFill>
          <a:ln/>
        </p:spPr>
      </p:sp>
      <p:sp>
        <p:nvSpPr>
          <p:cNvPr id="21" name="Shape 19"/>
          <p:cNvSpPr/>
          <p:nvPr/>
        </p:nvSpPr>
        <p:spPr>
          <a:xfrm>
            <a:off x="5394960" y="1371600"/>
            <a:ext cx="1325880" cy="320040"/>
          </a:xfrm>
          <a:prstGeom prst="roundRect">
            <a:avLst>
              <a:gd name="adj" fmla="val 14286"/>
            </a:avLst>
          </a:prstGeom>
          <a:solidFill>
            <a:srgbClr val="2C5F8A"/>
          </a:solidFill>
          <a:ln/>
        </p:spPr>
      </p:sp>
      <p:sp>
        <p:nvSpPr>
          <p:cNvPr id="22" name="Text 20"/>
          <p:cNvSpPr/>
          <p:nvPr/>
        </p:nvSpPr>
        <p:spPr>
          <a:xfrm>
            <a:off x="5394960" y="137160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Type 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29200" y="182880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🔧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5120640" y="246888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错误纠正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120640" y="3017520"/>
            <a:ext cx="1874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医生的判断纠正了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AI的事实错误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303520" y="4206240"/>
            <a:ext cx="1508760" cy="182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7" name="Text 25"/>
          <p:cNvSpPr/>
          <p:nvPr/>
        </p:nvSpPr>
        <p:spPr>
          <a:xfrm>
            <a:off x="5120640" y="4389120"/>
            <a:ext cx="1874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E05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提高准确率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315200" y="1188720"/>
            <a:ext cx="2057400" cy="5029200"/>
          </a:xfrm>
          <a:prstGeom prst="roundRect">
            <a:avLst>
              <a:gd name="adj" fmla="val 4444"/>
            </a:avLst>
          </a:prstGeom>
          <a:solidFill>
            <a:srgbClr val="000000"/>
          </a:solidFill>
          <a:ln/>
        </p:spPr>
      </p:sp>
      <p:sp>
        <p:nvSpPr>
          <p:cNvPr id="29" name="Shape 27"/>
          <p:cNvSpPr/>
          <p:nvPr/>
        </p:nvSpPr>
        <p:spPr>
          <a:xfrm>
            <a:off x="7680960" y="1371600"/>
            <a:ext cx="1325880" cy="320040"/>
          </a:xfrm>
          <a:prstGeom prst="roundRect">
            <a:avLst>
              <a:gd name="adj" fmla="val 14286"/>
            </a:avLst>
          </a:prstGeom>
          <a:solidFill>
            <a:srgbClr val="E0584A"/>
          </a:solidFill>
          <a:ln/>
        </p:spPr>
      </p:sp>
      <p:sp>
        <p:nvSpPr>
          <p:cNvPr id="30" name="Text 28"/>
          <p:cNvSpPr/>
          <p:nvPr/>
        </p:nvSpPr>
        <p:spPr>
          <a:xfrm>
            <a:off x="7680960" y="137160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Type 4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315200" y="182880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7406640" y="246888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能力局限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406640" y="3017520"/>
            <a:ext cx="1874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推荐正确但超出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医生执行能力范围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589520" y="4206240"/>
            <a:ext cx="1508760" cy="182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5" name="Text 33"/>
          <p:cNvSpPr/>
          <p:nvPr/>
        </p:nvSpPr>
        <p:spPr>
          <a:xfrm>
            <a:off x="7406640" y="4389120"/>
            <a:ext cx="1874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E05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抑制偏差防护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9601200" y="1188720"/>
            <a:ext cx="2057400" cy="5029200"/>
          </a:xfrm>
          <a:prstGeom prst="roundRect">
            <a:avLst>
              <a:gd name="adj" fmla="val 4444"/>
            </a:avLst>
          </a:prstGeom>
          <a:solidFill>
            <a:srgbClr val="000000"/>
          </a:solidFill>
          <a:ln/>
        </p:spPr>
      </p:sp>
      <p:sp>
        <p:nvSpPr>
          <p:cNvPr id="37" name="Shape 35"/>
          <p:cNvSpPr/>
          <p:nvPr/>
        </p:nvSpPr>
        <p:spPr>
          <a:xfrm>
            <a:off x="9966960" y="1371600"/>
            <a:ext cx="1325880" cy="320040"/>
          </a:xfrm>
          <a:prstGeom prst="roundRect">
            <a:avLst>
              <a:gd name="adj" fmla="val 14286"/>
            </a:avLst>
          </a:prstGeom>
          <a:solidFill>
            <a:srgbClr val="2C5F8A"/>
          </a:solidFill>
          <a:ln/>
        </p:spPr>
      </p:sp>
      <p:sp>
        <p:nvSpPr>
          <p:cNvPr id="38" name="Text 36"/>
          <p:cNvSpPr/>
          <p:nvPr/>
        </p:nvSpPr>
        <p:spPr>
          <a:xfrm>
            <a:off x="9966960" y="137160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Type 5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9601200" y="182880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🏥</a:t>
            </a:r>
            <a:endParaRPr lang="en-US" sz="2400" dirty="0"/>
          </a:p>
        </p:txBody>
      </p:sp>
      <p:sp>
        <p:nvSpPr>
          <p:cNvPr id="40" name="Text 38"/>
          <p:cNvSpPr/>
          <p:nvPr/>
        </p:nvSpPr>
        <p:spPr>
          <a:xfrm>
            <a:off x="9692640" y="246888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系统约束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9692640" y="3017520"/>
            <a:ext cx="1874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因组织/支付/资源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限制而覆盖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9875520" y="4206240"/>
            <a:ext cx="1508760" cy="182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3" name="Text 41"/>
          <p:cNvSpPr/>
          <p:nvPr/>
        </p:nvSpPr>
        <p:spPr>
          <a:xfrm>
            <a:off x="9692640" y="4389120"/>
            <a:ext cx="1874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E05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系统上下文适配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31520" y="64008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05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4 最为关键 — 它揭示了"抑制偏差"：系统会压制正确但执行困难的推荐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条件偏好公式与能力分解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371600" y="1280160"/>
            <a:ext cx="9445752" cy="1097280"/>
          </a:xfrm>
          <a:prstGeom prst="roundRect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1280160"/>
            <a:ext cx="94457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P(覆盖) = f( s患者状态 , c组织情境 , κ临床医生能力 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κ 临床医生能力分解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3383280"/>
            <a:ext cx="502920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15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05840" y="35204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8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κ exec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377440" y="352044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执行能力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4114800"/>
            <a:ext cx="4480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医生能否实施推荐方案？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技能水平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资源配置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时间可用性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9360" y="3383280"/>
            <a:ext cx="502920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15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83680" y="35204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58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κ align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955280" y="352044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对齐能力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83680" y="4114800"/>
            <a:ext cx="4480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医生的判断是否优于AI？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临床直觉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患者关系洞察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隐性知识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0584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双学习架构: 防止抑制偏差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5029200" cy="1463040"/>
          </a:xfrm>
          <a:prstGeom prst="roundRect">
            <a:avLst>
              <a:gd name="adj" fmla="val 6250"/>
            </a:avLst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716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8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🎯 奖励模型训练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学习"什么是对的"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输入: 覆盖行为 + 患者结局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目标: 学习与患者轨迹对齐的奖励函数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关键: 纵向结局 vs 单次就诊经济激励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0" y="1280160"/>
            <a:ext cx="5029200" cy="1463040"/>
          </a:xfrm>
          <a:prstGeom prst="roundRect">
            <a:avLst>
              <a:gd name="adj" fmla="val 6250"/>
            </a:avLst>
          </a:prstGeom>
          <a:solidFill>
            <a:srgbClr val="000000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0" y="13716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58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📊 能力模型训练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83680" y="182880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学习"医生为什么覆盖"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输入: 覆盖类型分类 + 上下文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目标: 估计每个医生的 κ_exec + κ_align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关键: 区分能力不足 vs 合理判断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0" y="3108960"/>
            <a:ext cx="7616952" cy="914400"/>
          </a:xfrm>
          <a:prstGeom prst="roundRect">
            <a:avLst>
              <a:gd name="adj" fmla="val 8000"/>
            </a:avLst>
          </a:prstGeom>
          <a:solidFill>
            <a:srgbClr val="000000"/>
          </a:solidFill>
          <a:ln/>
        </p:spPr>
      </p:sp>
      <p:sp>
        <p:nvSpPr>
          <p:cNvPr id="11" name="Text 9"/>
          <p:cNvSpPr/>
          <p:nvPr/>
        </p:nvSpPr>
        <p:spPr>
          <a:xfrm>
            <a:off x="2286000" y="3108960"/>
            <a:ext cx="7616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⟳ 交替优化: 两个模型轮流训练，相互修正，防止抑制偏差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31520" y="4572000"/>
            <a:ext cx="10515600" cy="1645920"/>
          </a:xfrm>
          <a:prstGeom prst="roundRect">
            <a:avLst>
              <a:gd name="adj" fmla="val 5556"/>
            </a:avLst>
          </a:prstGeom>
          <a:solidFill>
            <a:srgbClr val="00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663440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58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⚠️ 什么是"抑制偏差"？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4400" y="5029200"/>
            <a:ext cx="10149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当临床医生能力低于执行阈值时，AI系统会系统性压制正确但困难的推荐。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例如：推荐"胰岛素泵调量方案"完全正确，但该社区医生无法执行 → 模型学到"不要推荐胰岛素泵"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双学习架构通过同时建模"什么是对的"和"谁能做到"来防止这一失效模式。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真实部署场景：价值医疗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论文来自实际运营中的价值医疗部署，覆盖数据具有独特的有利属性：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15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9202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📈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25603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纵向密集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慢性病管理产生持续、密集的</a:t>
            </a:r>
            <a:endParaRPr lang="en-US" sz="12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覆盖事件流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83280" y="182880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15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83280" y="19202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566160" y="25603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决策集中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66160" y="301752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糖尿病管理等场景下，</a:t>
            </a:r>
            <a:endParaRPr lang="en-US" sz="12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决策空间相对集中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9360" y="182880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15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09360" y="19202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🏷️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492240" y="25603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结局标签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92240" y="301752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健康结局可追踪测量，</a:t>
            </a:r>
            <a:endParaRPr lang="en-US" sz="12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提供真实的奖励信号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235440" y="182880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15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235440" y="19202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🔄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9418320" y="25603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能力变异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418320" y="301752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医生群体存在天然的</a:t>
            </a:r>
            <a:endParaRPr lang="en-US" sz="12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能力分布差异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" y="5120640"/>
            <a:ext cx="10515600" cy="1097280"/>
          </a:xfrm>
          <a:prstGeom prst="roundRect">
            <a:avLst/>
          </a:prstGeom>
          <a:solidFill>
            <a:srgbClr val="1B2A4A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512064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关键条件：训练奖励模型时，需要"纵向结局测量 + 对齐的财务激励"双环境——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不是按就诊次数付费，而是按患者健康轨迹付费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0584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🔥 对你的项目意味着什么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1188720" cy="365760"/>
          </a:xfrm>
          <a:prstGeom prst="roundRect">
            <a:avLst>
              <a:gd name="adj" fmla="val 12500"/>
            </a:avLst>
          </a:prstGeom>
          <a:solidFill>
            <a:srgbClr val="E0584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887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直接适用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103120" y="1188720"/>
            <a:ext cx="1828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5F8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Harness Agent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5F8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(RLHF数据收集)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0" y="1188720"/>
            <a:ext cx="5029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医生UI中记录的每次"接受/覆盖AI建议"，天然就是高质量偏好数据。比众包标注更丰富——标注者是专家、有真实后果、结局可追踪。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326880" y="1188720"/>
            <a:ext cx="2560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E05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立即将覆盖行为作为RLHF信号源，替代或增强人工标注管线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834640"/>
            <a:ext cx="10515600" cy="914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3017520"/>
            <a:ext cx="1188720" cy="365760"/>
          </a:xfrm>
          <a:prstGeom prst="roundRect">
            <a:avLst>
              <a:gd name="adj" fmla="val 12500"/>
            </a:avLst>
          </a:prstGeom>
          <a:solidFill>
            <a:srgbClr val="2C5F8A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0175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架构参考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103120" y="3017520"/>
            <a:ext cx="1828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5F8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renji_mngs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5F8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(临床Agent)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0" y="3017520"/>
            <a:ext cx="5029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五类覆盖分类可以用于mNGS报告的证据链验证——Type 1-5映射到不同的"为什么修改AI输出"，形成可审计的推理追溯。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326880" y="3017520"/>
            <a:ext cx="2560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E05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在报告修改界面加入覆盖原因分类，积累结构化的偏好数据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4663440"/>
            <a:ext cx="10515600" cy="914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" y="4846320"/>
            <a:ext cx="1188720" cy="365760"/>
          </a:xfrm>
          <a:prstGeom prst="roundRect">
            <a:avLst>
              <a:gd name="adj" fmla="val 12500"/>
            </a:avLst>
          </a:prstGeom>
          <a:solidFill>
            <a:srgbClr val="2C5F8A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8463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警示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103120" y="4846320"/>
            <a:ext cx="1828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5F8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抑制偏差防护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5F8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(新方向)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0" y="4846320"/>
            <a:ext cx="5029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如果mNGS系统推荐的病原体鉴定对基层医生来说"正确但无法执行"，会造成什么影响？需要引入能力模型。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326880" y="4846320"/>
            <a:ext cx="2560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E05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评估目标用户的"执行能力分布"，设计差异化的推荐策略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下一步行动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651760" cy="41148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15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4630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058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📖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27432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阅读全论文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329184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22页，2个表格，1个图表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深入理解五类分类法和双学习架构的数学细节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1371600"/>
            <a:ext cx="2651760" cy="41148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15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66160" y="14630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058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840480" y="20116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🔗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566160" y="27432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追溯引用链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566160" y="329184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查找引用该论文的后继工作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探索覆盖信号在更多临床场景的验证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09360" y="1371600"/>
            <a:ext cx="2651760" cy="41148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15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92240" y="14630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058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766560" y="20116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🛠️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492240" y="27432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Harness原型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92240" y="329184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在医生UI中实现覆盖原因标记（Type 1-5）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用积累的数据训练简单的奖励模型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235440" y="1371600"/>
            <a:ext cx="2651760" cy="41148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15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418320" y="14630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058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9692640" y="20116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💻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9418320" y="27432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考察GitHub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418320" y="329184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搜索"clinician override"、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"suppression bias"相关开源实现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" y="59436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📎 arXiv:2604.28010  |  📊 周报 https://github.com/Zymonody7/bio_research/blob/main/daily-reports/WEEKLY-2026-W21.md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2026-05-21T08:30:50Z</dcterms:created>
  <dcterms:modified xsi:type="dcterms:W3CDTF">2026-05-21T08:30:50Z</dcterms:modified>
</cp:coreProperties>
</file>